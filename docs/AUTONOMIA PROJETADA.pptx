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89" r:id="rId5"/>
    <p:sldId id="30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3236"/>
    <a:srgbClr val="A6ADB4"/>
    <a:srgbClr val="F58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4E22FD-338A-4970-81DF-EDF727BE4E35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09A36-2F21-40BB-9981-B3C6DEE1EF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641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09A36-2F21-40BB-9981-B3C6DEE1EFFE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8372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9B1A4-A40A-64BD-E6F5-1FDBFC298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F1576A-C1A6-9801-A3EF-55260B558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15DB6D-4762-0339-2824-71427809B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9CAA-A9C2-4F59-A5C6-0FA192E5675B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E877BD-0346-EBAF-FF2E-6680083E7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4F0B71-CC75-B6E6-04A2-FDB940F4C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7AC4-986D-423E-B54D-F48AAEA5A3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1783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283ABF-4FAC-7D03-D8FB-07F3BC67D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7EF2E8-B1AC-755E-BF8A-0ADC9372A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633625-323B-50DB-545C-F072F5F09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9CAA-A9C2-4F59-A5C6-0FA192E5675B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B679E3-86BC-67BD-1415-BAA8611E5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CB7F8A-DAF0-8E7E-BAC8-BB8D6298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7AC4-986D-423E-B54D-F48AAEA5A3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2075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D419C-23F8-FF88-977F-C05284EB8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E38535-7644-C178-F3C7-7DBEBCB0C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3F108E-6E50-C7CE-E484-35A967A14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9CAA-A9C2-4F59-A5C6-0FA192E5675B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F5B755-6935-E3CD-6D6C-F8AB755E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3249C6-7EF8-DAE7-FDE3-02A01D0C5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7AC4-986D-423E-B54D-F48AAEA5A3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8473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C336DA-6773-A9EA-E9E8-96F334E4D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29318F-3F2F-DD99-DD34-51CC3EEFFB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B770682-63A0-D772-FA8F-83F0D0040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1F7F96-4784-28D7-E9D1-AE52D45EC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9CAA-A9C2-4F59-A5C6-0FA192E5675B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64C105-87B4-9858-4E98-888CD927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93B50B-987C-9BF8-ABE6-9AE8F7CDC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7AC4-986D-423E-B54D-F48AAEA5A3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0207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8D074-A968-0BB9-1CC6-7AC4778B4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F7FD8E-5315-DDDE-B97F-03F9CFD21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4310D9-D516-13E7-5E77-2E611FC8F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5DD29D0-2CAD-C6A8-C0FC-84FAB14CB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4ED9316-C605-1C5D-618C-2A150BF181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B38F2D8-9C1E-8DA8-EFA5-747BA799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9CAA-A9C2-4F59-A5C6-0FA192E5675B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F512674-2FC9-0449-10E4-DA6C5992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25E8F70-C26C-E09A-0531-6D112799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7AC4-986D-423E-B54D-F48AAEA5A3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976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E00671-3A62-B6EC-9421-84F31FA37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3F302F-5082-FCD2-0139-4A3334A4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9CAA-A9C2-4F59-A5C6-0FA192E5675B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520A924-6910-3DBC-34B6-0776A3EFD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B2FB2B2-3D49-64E1-8BA9-92278FD0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7AC4-986D-423E-B54D-F48AAEA5A3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46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A81CB9E-A9A7-BB1B-FF54-2F8E89FC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9CAA-A9C2-4F59-A5C6-0FA192E5675B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EF922D5-56CC-39A0-1640-4628FD3A9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61A873-6D24-B277-E7DF-53E34F644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7AC4-986D-423E-B54D-F48AAEA5A3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4846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4326D-8D01-1FE0-38F5-FA31DDDFA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39E004-977C-2E2D-B09E-36E4BEB8A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9520FC-9739-9C81-AFB7-59BA558B6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98A48C-3857-2976-75DA-70A42B04F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9CAA-A9C2-4F59-A5C6-0FA192E5675B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A3E958-616F-6830-F043-23B31A7A8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02E314-520C-7C31-8B2F-71977FA1B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7AC4-986D-423E-B54D-F48AAEA5A3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4492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59DD2-E177-64B0-AB15-7342BC33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DBBCBF6-5722-FD1A-1C15-57F70970E6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8F0B4E-B422-C4EF-F75C-2BC3C0F70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F800D1-C67A-2844-C581-119C34830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9CAA-A9C2-4F59-A5C6-0FA192E5675B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EDF07D-1774-8872-7630-151AE840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74D2ED-FE61-8AED-9CEE-095814E7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7AC4-986D-423E-B54D-F48AAEA5A3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378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5BE8FD-5F44-D784-EEF2-FA28CD298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736C0E-C521-8332-0E5F-369316390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158CC1-DA40-E793-7C5D-7D841BA6A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9CAA-A9C2-4F59-A5C6-0FA192E5675B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0FC8B0-9347-EB4A-0FCF-6CB8FF855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044B2A-81A8-FCD1-A160-8635C1B0A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7AC4-986D-423E-B54D-F48AAEA5A3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0515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00B9A15-85D7-3B17-C2E6-DAEA8F8C1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006726-C3DC-F2D4-FCED-9FF14EEC6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E34CDB-B8B1-4C86-21DD-ADD62AC6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9CAA-A9C2-4F59-A5C6-0FA192E5675B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362424-2789-1F5F-1FBB-5B0FF95EB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54855B-9983-D521-BAC4-7A664D45F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7AC4-986D-423E-B54D-F48AAEA5A3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9172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2F46983-8FF1-55CB-2598-385DAA4EF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C9D52F-7742-8C9A-E435-19CDC7E7F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A749F7-7090-518E-5761-44A15CFAF7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99CAA-A9C2-4F59-A5C6-0FA192E5675B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4BBA35-F648-1946-7873-68597A6293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BF7F3D-E859-C6CE-A46B-6A364D0E4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97AC4-986D-423E-B54D-F48AAEA5A3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609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5C6252D-A077-68F3-A061-064A9317CB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24AC8A00-B473-0493-06A0-D0E7FFB6C68C}"/>
              </a:ext>
            </a:extLst>
          </p:cNvPr>
          <p:cNvSpPr/>
          <p:nvPr/>
        </p:nvSpPr>
        <p:spPr>
          <a:xfrm>
            <a:off x="6621453" y="3171522"/>
            <a:ext cx="3637020" cy="459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>
                <a:solidFill>
                  <a:schemeClr val="bg1"/>
                </a:solidFill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Infraestrutura de Energia &amp; Clima</a:t>
            </a:r>
          </a:p>
        </p:txBody>
      </p:sp>
      <p:sp>
        <p:nvSpPr>
          <p:cNvPr id="7" name="TÍTULO 01">
            <a:extLst>
              <a:ext uri="{FF2B5EF4-FFF2-40B4-BE49-F238E27FC236}">
                <a16:creationId xmlns:a16="http://schemas.microsoft.com/office/drawing/2014/main" id="{6CCBF558-BA2C-3723-B547-D69DAC53E15A}"/>
              </a:ext>
            </a:extLst>
          </p:cNvPr>
          <p:cNvSpPr txBox="1"/>
          <p:nvPr/>
        </p:nvSpPr>
        <p:spPr>
          <a:xfrm>
            <a:off x="6621453" y="1848083"/>
            <a:ext cx="55366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800"/>
              </a:lnSpc>
            </a:pPr>
            <a:r>
              <a:rPr lang="pt-BR" sz="4000" b="1" dirty="0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Autonomia Projetada</a:t>
            </a:r>
            <a:endParaRPr lang="pt-BR" sz="4800" b="1" dirty="0">
              <a:solidFill>
                <a:schemeClr val="bg1"/>
              </a:solidFill>
              <a:latin typeface="AMX" pitchFamily="2" charset="0"/>
              <a:ea typeface="DIN 2014 Bold" panose="020B0504020202020204" pitchFamily="34" charset="77"/>
              <a:cs typeface="Segoe UI" panose="020B0502040204020203" pitchFamily="34" charset="0"/>
            </a:endParaRPr>
          </a:p>
        </p:txBody>
      </p:sp>
      <p:pic>
        <p:nvPicPr>
          <p:cNvPr id="2" name="Imagem 1" descr="Ícone&#10;&#10;Descrição gerada automaticamente">
            <a:extLst>
              <a:ext uri="{FF2B5EF4-FFF2-40B4-BE49-F238E27FC236}">
                <a16:creationId xmlns:a16="http://schemas.microsoft.com/office/drawing/2014/main" id="{B78EA588-201C-091B-CB05-6AADCE2953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36" y="5822376"/>
            <a:ext cx="945102" cy="852854"/>
          </a:xfrm>
          <a:prstGeom prst="rect">
            <a:avLst/>
          </a:prstGeom>
        </p:spPr>
      </p:pic>
      <p:sp>
        <p:nvSpPr>
          <p:cNvPr id="8" name="DATA">
            <a:extLst>
              <a:ext uri="{FF2B5EF4-FFF2-40B4-BE49-F238E27FC236}">
                <a16:creationId xmlns:a16="http://schemas.microsoft.com/office/drawing/2014/main" id="{41D2F62F-420D-26A7-3820-9FEF53BC3E0F}"/>
              </a:ext>
            </a:extLst>
          </p:cNvPr>
          <p:cNvSpPr txBox="1"/>
          <p:nvPr/>
        </p:nvSpPr>
        <p:spPr>
          <a:xfrm>
            <a:off x="6621453" y="3630622"/>
            <a:ext cx="1981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cap="all" dirty="0">
                <a:solidFill>
                  <a:schemeClr val="bg1"/>
                </a:solidFill>
                <a:latin typeface="AMX" pitchFamily="2" charset="0"/>
                <a:ea typeface="Segoe UI Black" panose="020B0A02040204020203" pitchFamily="34" charset="0"/>
                <a:cs typeface="Segoe UI Light" panose="020B0502040204020203" pitchFamily="34" charset="0"/>
              </a:rPr>
              <a:t>OUTUBRO/2024</a:t>
            </a:r>
          </a:p>
        </p:txBody>
      </p:sp>
    </p:spTree>
    <p:extLst>
      <p:ext uri="{BB962C8B-B14F-4D97-AF65-F5344CB8AC3E}">
        <p14:creationId xmlns:p14="http://schemas.microsoft.com/office/powerpoint/2010/main" val="2290859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Logotipo&#10;&#10;Descrição gerada automaticamente">
            <a:extLst>
              <a:ext uri="{FF2B5EF4-FFF2-40B4-BE49-F238E27FC236}">
                <a16:creationId xmlns:a16="http://schemas.microsoft.com/office/drawing/2014/main" id="{4F90407B-431F-DF3F-0791-2D9570A7042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45"/>
          <a:stretch/>
        </p:blipFill>
        <p:spPr>
          <a:xfrm>
            <a:off x="365379" y="49277"/>
            <a:ext cx="667794" cy="711119"/>
          </a:xfrm>
          <a:prstGeom prst="rect">
            <a:avLst/>
          </a:prstGeom>
        </p:spPr>
      </p:pic>
      <p:pic>
        <p:nvPicPr>
          <p:cNvPr id="14" name="Imagem 13" descr="Ícone&#10;&#10;Descrição gerada automaticamente">
            <a:extLst>
              <a:ext uri="{FF2B5EF4-FFF2-40B4-BE49-F238E27FC236}">
                <a16:creationId xmlns:a16="http://schemas.microsoft.com/office/drawing/2014/main" id="{B78EA588-201C-091B-CB05-6AADCE2953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1017" y="49277"/>
            <a:ext cx="945102" cy="852854"/>
          </a:xfrm>
          <a:prstGeom prst="rect">
            <a:avLst/>
          </a:prstGeom>
        </p:spPr>
      </p:pic>
      <p:sp>
        <p:nvSpPr>
          <p:cNvPr id="7" name="TÍTULO 01">
            <a:extLst>
              <a:ext uri="{FF2B5EF4-FFF2-40B4-BE49-F238E27FC236}">
                <a16:creationId xmlns:a16="http://schemas.microsoft.com/office/drawing/2014/main" id="{56C6D53B-6D05-2700-70D7-80A928954092}"/>
              </a:ext>
            </a:extLst>
          </p:cNvPr>
          <p:cNvSpPr txBox="1"/>
          <p:nvPr/>
        </p:nvSpPr>
        <p:spPr>
          <a:xfrm>
            <a:off x="1033173" y="99368"/>
            <a:ext cx="9183624" cy="610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pt-BR" sz="2800" b="1">
                <a:solidFill>
                  <a:sysClr val="windowText" lastClr="000000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Autonomia Projetada Móvel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4A47983-FB32-CAE3-97E1-B3EA1E54E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19533"/>
              </p:ext>
            </p:extLst>
          </p:nvPr>
        </p:nvGraphicFramePr>
        <p:xfrm>
          <a:off x="699276" y="1251290"/>
          <a:ext cx="10926668" cy="4918861"/>
        </p:xfrm>
        <a:graphic>
          <a:graphicData uri="http://schemas.openxmlformats.org/drawingml/2006/table">
            <a:tbl>
              <a:tblPr/>
              <a:tblGrid>
                <a:gridCol w="1602470">
                  <a:extLst>
                    <a:ext uri="{9D8B030D-6E8A-4147-A177-3AD203B41FA5}">
                      <a16:colId xmlns:a16="http://schemas.microsoft.com/office/drawing/2014/main" val="3208175903"/>
                    </a:ext>
                  </a:extLst>
                </a:gridCol>
                <a:gridCol w="2132275">
                  <a:extLst>
                    <a:ext uri="{9D8B030D-6E8A-4147-A177-3AD203B41FA5}">
                      <a16:colId xmlns:a16="http://schemas.microsoft.com/office/drawing/2014/main" val="3025349022"/>
                    </a:ext>
                  </a:extLst>
                </a:gridCol>
                <a:gridCol w="4945776">
                  <a:extLst>
                    <a:ext uri="{9D8B030D-6E8A-4147-A177-3AD203B41FA5}">
                      <a16:colId xmlns:a16="http://schemas.microsoft.com/office/drawing/2014/main" val="4238152084"/>
                    </a:ext>
                  </a:extLst>
                </a:gridCol>
                <a:gridCol w="2246147">
                  <a:extLst>
                    <a:ext uri="{9D8B030D-6E8A-4147-A177-3AD203B41FA5}">
                      <a16:colId xmlns:a16="http://schemas.microsoft.com/office/drawing/2014/main" val="488155719"/>
                    </a:ext>
                  </a:extLst>
                </a:gridCol>
              </a:tblGrid>
              <a:tr h="2944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808080"/>
                          </a:highlight>
                          <a:latin typeface="AMX" pitchFamily="2" charset="0"/>
                        </a:rPr>
                        <a:t>Item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808080"/>
                          </a:highlight>
                          <a:latin typeface="AMX" pitchFamily="2" charset="0"/>
                        </a:rPr>
                        <a:t>Unidade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808080"/>
                          </a:highlight>
                          <a:latin typeface="AMX" pitchFamily="2" charset="0"/>
                        </a:rPr>
                        <a:t>Regra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808080"/>
                          </a:highlight>
                          <a:latin typeface="AMX" pitchFamily="2" charset="0"/>
                        </a:rPr>
                        <a:t>Nova Regra (Horas)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451984"/>
                  </a:ext>
                </a:extLst>
              </a:tr>
              <a:tr h="46243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Móvel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Concentradores/GPON sem GMG sem eventos de falha &gt; 2hs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>
                          <a:solidFill>
                            <a:srgbClr val="FF0000"/>
                          </a:solidFill>
                          <a:effectLst/>
                          <a:latin typeface="AMX" pitchFamily="2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347675"/>
                  </a:ext>
                </a:extLst>
              </a:tr>
              <a:tr h="46243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Móvel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Concentradores sem GMG com eventos de falha de energia &gt; 2hs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392140"/>
                  </a:ext>
                </a:extLst>
              </a:tr>
              <a:tr h="46243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Móvel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Concentradores com GMG: 4hs de autonomia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>
                          <a:solidFill>
                            <a:srgbClr val="FF0000"/>
                          </a:solidFill>
                          <a:effectLst/>
                          <a:latin typeface="AMX" pitchFamily="2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44495"/>
                  </a:ext>
                </a:extLst>
              </a:tr>
              <a:tr h="23121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Móvel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Monosites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790199"/>
                  </a:ext>
                </a:extLst>
              </a:tr>
              <a:tr h="46243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Móvel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Sites estratégicos sem evento de falha &gt;2hs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>
                          <a:solidFill>
                            <a:srgbClr val="FF0000"/>
                          </a:solidFill>
                          <a:effectLst/>
                          <a:latin typeface="AMX" pitchFamily="2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921235"/>
                  </a:ext>
                </a:extLst>
              </a:tr>
              <a:tr h="23121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Móvel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Cidade com até 5 sites (IND8)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690094"/>
                  </a:ext>
                </a:extLst>
              </a:tr>
              <a:tr h="23121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Móvel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Sites com falha de energia &lt;2hs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>
                          <a:solidFill>
                            <a:srgbClr val="FF0000"/>
                          </a:solidFill>
                          <a:effectLst/>
                          <a:latin typeface="AMX" pitchFamily="2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341429"/>
                  </a:ext>
                </a:extLst>
              </a:tr>
              <a:tr h="23121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Móvel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Sites com falha de energia &gt;2hs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761581"/>
                  </a:ext>
                </a:extLst>
              </a:tr>
              <a:tr h="46243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Móvel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Sites OI sem histórico de incidente - migração recente na planta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32457"/>
                  </a:ext>
                </a:extLst>
              </a:tr>
              <a:tr h="46243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Móvel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Site sem impacto na cobertura ou capacidade (Análise Engenharia)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709427"/>
                  </a:ext>
                </a:extLst>
              </a:tr>
              <a:tr h="23121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Móvel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Sites transportáveis (COW)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251591"/>
                  </a:ext>
                </a:extLst>
              </a:tr>
              <a:tr h="46243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Empresarial/Móvel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Terminal/Central/Diamante com GMG Redundante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429963"/>
                  </a:ext>
                </a:extLst>
              </a:tr>
              <a:tr h="23121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Empresarial/Móvel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Terminal/Central/Diamante com GMG Singelo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MX" pitchFamily="2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020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33007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6bde55-52b6-42b3-9c75-d6453f280f52" xsi:nil="true"/>
    <lcf76f155ced4ddcb4097134ff3c332f xmlns="13bae0c8-8c3c-4480-8e86-346204e3118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43ED4FB8E633444A7BB3E4955E1B541" ma:contentTypeVersion="20" ma:contentTypeDescription="Crie um novo documento." ma:contentTypeScope="" ma:versionID="1db9f25e831c2bcc3c573229b73b8292">
  <xsd:schema xmlns:xsd="http://www.w3.org/2001/XMLSchema" xmlns:xs="http://www.w3.org/2001/XMLSchema" xmlns:p="http://schemas.microsoft.com/office/2006/metadata/properties" xmlns:ns2="13bae0c8-8c3c-4480-8e86-346204e3118b" xmlns:ns3="de6bde55-52b6-42b3-9c75-d6453f280f52" targetNamespace="http://schemas.microsoft.com/office/2006/metadata/properties" ma:root="true" ma:fieldsID="4839bae1dcd96e1cbc9ea0167d326c08" ns2:_="" ns3:_="">
    <xsd:import namespace="13bae0c8-8c3c-4480-8e86-346204e3118b"/>
    <xsd:import namespace="de6bde55-52b6-42b3-9c75-d6453f280f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bae0c8-8c3c-4480-8e86-346204e311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c8a3b58-1317-4067-bbdf-e53778bd94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6bde55-52b6-42b3-9c75-d6453f280f52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b1d22903-2f26-4b44-a72b-90b25535801b}" ma:internalName="TaxCatchAll" ma:readOnly="false" ma:showField="CatchAllData" ma:web="de6bde55-52b6-42b3-9c75-d6453f280f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0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AF2EDA-8D00-417C-A933-AE2E8DA48A24}">
  <ds:schemaRefs>
    <ds:schemaRef ds:uri="13bae0c8-8c3c-4480-8e86-346204e3118b"/>
    <ds:schemaRef ds:uri="de6bde55-52b6-42b3-9c75-d6453f280f5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B56B066-6126-4B78-9AED-2B7C035F5F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693A22-1BC1-42A4-A7B7-12D58257FB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bae0c8-8c3c-4480-8e86-346204e3118b"/>
    <ds:schemaRef ds:uri="de6bde55-52b6-42b3-9c75-d6453f280f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168</Words>
  <Application>Microsoft Office PowerPoint</Application>
  <PresentationFormat>Widescreen</PresentationFormat>
  <Paragraphs>61</Paragraphs>
  <Slides>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AMX</vt:lpstr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GONCALVES RAINHA -  -</dc:creator>
  <cp:lastModifiedBy>FELIPE HIDEKI IKENAGA</cp:lastModifiedBy>
  <cp:revision>2</cp:revision>
  <dcterms:created xsi:type="dcterms:W3CDTF">2023-11-17T14:43:06Z</dcterms:created>
  <dcterms:modified xsi:type="dcterms:W3CDTF">2026-04-24T13:29:09Z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0x010100A43ED4FB8E633444A7BB3E4955E1B541</vt:lpwstr>
  </property>
  <property fmtid="{D5CDD505-2E9C-101B-9397-08002B2CF9AE}" pid="3" name="MediaServiceImageTags">
    <vt:lpwstr/>
  </property>
</Properties>
</file>